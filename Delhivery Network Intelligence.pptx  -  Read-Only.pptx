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Space Grotesk" panose="020B0604020202020204" charset="0"/>
      <p:regular r:id="rId26"/>
      <p:bold r:id="rId27"/>
    </p:embeddedFont>
    <p:embeddedFont>
      <p:font typeface="Space Grotesk Medium" panose="020B0604020202020204" charset="0"/>
      <p:regular r:id="rId28"/>
      <p:bold r:id="rId29"/>
    </p:embeddedFont>
    <p:embeddedFont>
      <p:font typeface="Space Grotesk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edfca4efa_90_0)">
  <p:cSld name="Generated (g3eedfca4efa_90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56887" y="4814596"/>
            <a:ext cx="14668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7512" y="4814596"/>
            <a:ext cx="177165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2937" y="4814596"/>
            <a:ext cx="19716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4271962" y="1786979"/>
            <a:ext cx="3648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ANALYTICS COMPETITION SUBMISSION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1595437" y="2139404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Delhivery Network Intelligence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571750" y="3876526"/>
            <a:ext cx="7048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Optimizing Delivery ETAs with Graph-Based Network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19275"/>
            <a:ext cx="5038725" cy="5434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5902969"/>
            <a:ext cx="4257675" cy="95994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5038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PROBLEM STATEMENT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933450"/>
            <a:ext cx="5290661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ETA Dilemma</a:t>
            </a:r>
            <a:endParaRPr/>
          </a:p>
        </p:txBody>
      </p:sp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488156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581025" y="1438275"/>
            <a:ext cx="76200" cy="381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314450" y="2209800"/>
            <a:ext cx="411051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EF4444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SLA Breaches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71550" y="2686050"/>
            <a:ext cx="4257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Inaccurate ETA predictions cause critical SLA breaches and lower customer satisfaction.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285875" y="3503116"/>
            <a:ext cx="414051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59E0B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Tabular Limitations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71550" y="3979366"/>
            <a:ext cx="42576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Baseline routing systems systematically underestimate actual travel time by nearly </a:t>
            </a:r>
            <a:r>
              <a:rPr lang="en-US" sz="14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2x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4748807"/>
            <a:ext cx="42576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tabular models ignore crucial facility processing delays and cascading network bottlenecks.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1550" y="224790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1550" y="3541216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200150" y="6093469"/>
            <a:ext cx="38385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lang="en-US" sz="1425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 Build an intelligent, network-aware ETA prediction model.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6096000" y="488156"/>
            <a:ext cx="6086475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16"/>
          <p:cNvGrpSpPr/>
          <p:nvPr/>
        </p:nvGrpSpPr>
        <p:grpSpPr>
          <a:xfrm>
            <a:off x="571500" y="571500"/>
            <a:ext cx="11049000" cy="847725"/>
            <a:chOff x="571500" y="571500"/>
            <a:chExt cx="11049000" cy="847725"/>
          </a:xfrm>
        </p:grpSpPr>
        <p:sp>
          <p:nvSpPr>
            <p:cNvPr id="118" name="Google Shape;118;p16"/>
            <p:cNvSpPr/>
            <p:nvPr/>
          </p:nvSpPr>
          <p:spPr>
            <a:xfrm>
              <a:off x="571500" y="571500"/>
              <a:ext cx="1104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571500" y="57150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Dataset &amp; Feature Engineering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571500" y="138112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16"/>
          <p:cNvGrpSpPr/>
          <p:nvPr/>
        </p:nvGrpSpPr>
        <p:grpSpPr>
          <a:xfrm>
            <a:off x="571500" y="1619250"/>
            <a:ext cx="11049000" cy="381000"/>
            <a:chOff x="571500" y="1619250"/>
            <a:chExt cx="11049000" cy="381000"/>
          </a:xfrm>
        </p:grpSpPr>
        <p:sp>
          <p:nvSpPr>
            <p:cNvPr id="122" name="Google Shape;122;p16"/>
            <p:cNvSpPr/>
            <p:nvPr/>
          </p:nvSpPr>
          <p:spPr>
            <a:xfrm>
              <a:off x="571500" y="1619250"/>
              <a:ext cx="11049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571500" y="1619250"/>
              <a:ext cx="1104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Processed </a:t>
              </a:r>
              <a:r>
                <a:rPr lang="en-US" sz="16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140,000+ logistics trips</a:t>
              </a: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across the Delhivery network, establishing a rigorous data quality pipeline.</a:t>
              </a:r>
              <a:endParaRPr sz="16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571500" y="2286000"/>
            <a:ext cx="3429000" cy="4000500"/>
            <a:chOff x="571500" y="2286000"/>
            <a:chExt cx="3429000" cy="4000500"/>
          </a:xfrm>
        </p:grpSpPr>
        <p:sp>
          <p:nvSpPr>
            <p:cNvPr id="125" name="Google Shape;125;p16"/>
            <p:cNvSpPr/>
            <p:nvPr/>
          </p:nvSpPr>
          <p:spPr>
            <a:xfrm>
              <a:off x="571500" y="2286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857250" y="2571750"/>
              <a:ext cx="2857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>
                <a:highlight>
                  <a:srgbClr val="3B82F6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Temporal Engineering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Extracted crucial time-based signals including hour of day, day of week, and highly specific local rush hour flags.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4381500" y="2286000"/>
            <a:ext cx="3429000" cy="4000500"/>
            <a:chOff x="4381500" y="2286000"/>
            <a:chExt cx="3429000" cy="4000500"/>
          </a:xfrm>
        </p:grpSpPr>
        <p:sp>
          <p:nvSpPr>
            <p:cNvPr id="128" name="Google Shape;128;p16"/>
            <p:cNvSpPr/>
            <p:nvPr/>
          </p:nvSpPr>
          <p:spPr>
            <a:xfrm>
              <a:off x="4381500" y="2286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4667250" y="2571750"/>
              <a:ext cx="2857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map</a:t>
              </a:r>
              <a:endParaRPr>
                <a:highlight>
                  <a:srgbClr val="10B981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Spatial Rollups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Calculated Haversine distances and mapped city pairs. Aggregated data into segment-level rollups to determine true operational time.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" name="Google Shape;130;p16"/>
          <p:cNvGrpSpPr/>
          <p:nvPr/>
        </p:nvGrpSpPr>
        <p:grpSpPr>
          <a:xfrm>
            <a:off x="8191500" y="2286000"/>
            <a:ext cx="3429000" cy="4000500"/>
            <a:chOff x="8191500" y="2286000"/>
            <a:chExt cx="3429000" cy="4000500"/>
          </a:xfrm>
        </p:grpSpPr>
        <p:sp>
          <p:nvSpPr>
            <p:cNvPr id="131" name="Google Shape;131;p16"/>
            <p:cNvSpPr/>
            <p:nvPr/>
          </p:nvSpPr>
          <p:spPr>
            <a:xfrm>
              <a:off x="8191500" y="228600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 txBox="1"/>
            <p:nvPr/>
          </p:nvSpPr>
          <p:spPr>
            <a:xfrm>
              <a:off x="8477250" y="2571750"/>
              <a:ext cx="28575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filter_alt</a:t>
              </a:r>
              <a:endParaRPr>
                <a:highlight>
                  <a:srgbClr val="F59E0B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Quality &amp; Outliers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Identified and neutralized extreme anomalies (e.g., corrupted 500+ hour delay entries) using strict IQR thresholding limits.</a:t>
              </a:r>
              <a:endParaRPr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66850"/>
            <a:ext cx="5276850" cy="5152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376041"/>
            <a:ext cx="50863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33416"/>
            <a:ext cx="508635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724650" y="1857375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Modeling the Topography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724650" y="2333625"/>
            <a:ext cx="449580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modeled the entire logistics network as a Directed Graph using NetworkX. Unlike physical distance, </a:t>
            </a:r>
            <a:r>
              <a:rPr lang="en-US" sz="1425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Edge Weights represent the average historical delay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 the corridor.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24650" y="3729632"/>
            <a:ext cx="44958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Extracted Topological Features: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04875" y="2671316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1,590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04875" y="3357116"/>
            <a:ext cx="4467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FACILITIES (NODES)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04875" y="4528691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2,508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04875" y="5214491"/>
            <a:ext cx="4467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B82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ACTIVE CORRIDORS (EDGES)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029450" y="4209603"/>
            <a:ext cx="4191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PageRank: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Facility importance and traffic gravity.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029450" y="4979044"/>
            <a:ext cx="4191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Betweenness Centrality: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Bottleneck potential for routing.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029450" y="5748486"/>
            <a:ext cx="4191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Degree Centrality:</a:t>
            </a:r>
            <a:r>
              <a:rPr lang="en-US" sz="14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Hub connectivity metrics.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81025" y="581025"/>
            <a:ext cx="1158144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Graph Construction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581025" y="1085850"/>
            <a:ext cx="76200" cy="381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22865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4998094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5767536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" name="Google Shape;162;p18"/>
          <p:cNvGrpSpPr/>
          <p:nvPr/>
        </p:nvGrpSpPr>
        <p:grpSpPr>
          <a:xfrm>
            <a:off x="571500" y="571500"/>
            <a:ext cx="11049000" cy="704850"/>
            <a:chOff x="571500" y="571500"/>
            <a:chExt cx="11049000" cy="704850"/>
          </a:xfrm>
        </p:grpSpPr>
        <p:sp>
          <p:nvSpPr>
            <p:cNvPr id="163" name="Google Shape;163;p18"/>
            <p:cNvSpPr txBox="1"/>
            <p:nvPr/>
          </p:nvSpPr>
          <p:spPr>
            <a:xfrm>
              <a:off x="571500" y="57150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Why Graph Topology Matters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571500" y="123825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18"/>
          <p:cNvGrpSpPr/>
          <p:nvPr/>
        </p:nvGrpSpPr>
        <p:grpSpPr>
          <a:xfrm>
            <a:off x="571500" y="1571625"/>
            <a:ext cx="11049000" cy="762000"/>
            <a:chOff x="571500" y="1571625"/>
            <a:chExt cx="11049000" cy="762000"/>
          </a:xfrm>
        </p:grpSpPr>
        <p:sp>
          <p:nvSpPr>
            <p:cNvPr id="166" name="Google Shape;166;p18"/>
            <p:cNvSpPr/>
            <p:nvPr/>
          </p:nvSpPr>
          <p:spPr>
            <a:xfrm>
              <a:off x="571500" y="1571625"/>
              <a:ext cx="11049000" cy="762000"/>
            </a:xfrm>
            <a:prstGeom prst="roundRect">
              <a:avLst>
                <a:gd name="adj" fmla="val 20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8"/>
            <p:cNvSpPr txBox="1"/>
            <p:nvPr/>
          </p:nvSpPr>
          <p:spPr>
            <a:xfrm>
              <a:off x="857250" y="1571625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Tabular models treat facilities as isolated categorical variables. Graph features mathematically expose the </a:t>
              </a:r>
              <a:r>
                <a:rPr lang="en-US" sz="16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'ripple effect'</a:t>
              </a:r>
              <a:r>
                <a:rPr lang="en-US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of congestion.</a:t>
              </a:r>
              <a:endParaRPr sz="16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8" name="Google Shape;168;p18"/>
          <p:cNvGrpSpPr/>
          <p:nvPr/>
        </p:nvGrpSpPr>
        <p:grpSpPr>
          <a:xfrm>
            <a:off x="571500" y="2571750"/>
            <a:ext cx="3429000" cy="3619500"/>
            <a:chOff x="571500" y="2571750"/>
            <a:chExt cx="3429000" cy="3619500"/>
          </a:xfrm>
        </p:grpSpPr>
        <p:sp>
          <p:nvSpPr>
            <p:cNvPr id="169" name="Google Shape;169;p18"/>
            <p:cNvSpPr/>
            <p:nvPr/>
          </p:nvSpPr>
          <p:spPr>
            <a:xfrm>
              <a:off x="571500" y="257175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857250" y="2857500"/>
              <a:ext cx="2857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Node2Vec Embeddings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Captured the structural neighborhood of each facility into </a:t>
              </a:r>
              <a:r>
                <a:rPr lang="en-US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dense 32-dimensional vectors</a:t>
              </a: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enabling deep relational learning.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1" name="Google Shape;171;p18"/>
          <p:cNvGrpSpPr/>
          <p:nvPr/>
        </p:nvGrpSpPr>
        <p:grpSpPr>
          <a:xfrm>
            <a:off x="4381500" y="2571750"/>
            <a:ext cx="3429000" cy="3619500"/>
            <a:chOff x="4381500" y="2571750"/>
            <a:chExt cx="3429000" cy="3619500"/>
          </a:xfrm>
        </p:grpSpPr>
        <p:sp>
          <p:nvSpPr>
            <p:cNvPr id="172" name="Google Shape;172;p18"/>
            <p:cNvSpPr/>
            <p:nvPr/>
          </p:nvSpPr>
          <p:spPr>
            <a:xfrm>
              <a:off x="4381500" y="257175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4667250" y="2857500"/>
              <a:ext cx="2857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Community Detection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Deployed the </a:t>
              </a:r>
              <a:r>
                <a:rPr lang="en-US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Louvain algorithm</a:t>
              </a: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to map hidden network structures and functional clusters within the logistics chain.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18"/>
          <p:cNvGrpSpPr/>
          <p:nvPr/>
        </p:nvGrpSpPr>
        <p:grpSpPr>
          <a:xfrm>
            <a:off x="8191500" y="2571750"/>
            <a:ext cx="3429000" cy="3619500"/>
            <a:chOff x="8191500" y="2571750"/>
            <a:chExt cx="3429000" cy="3619500"/>
          </a:xfrm>
        </p:grpSpPr>
        <p:sp>
          <p:nvSpPr>
            <p:cNvPr id="175" name="Google Shape;175;p18"/>
            <p:cNvSpPr/>
            <p:nvPr/>
          </p:nvSpPr>
          <p:spPr>
            <a:xfrm>
              <a:off x="8191500" y="257175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8477250" y="2857500"/>
              <a:ext cx="2857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</a:t>
              </a:r>
              <a:endParaRPr sz="32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Network Density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Successfully grouped facilities into </a:t>
              </a:r>
              <a:r>
                <a:rPr lang="en-US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105 distinct regional sub-networks</a:t>
              </a: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effectively isolating local disruptions.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19"/>
          <p:cNvGrpSpPr/>
          <p:nvPr/>
        </p:nvGrpSpPr>
        <p:grpSpPr>
          <a:xfrm>
            <a:off x="571500" y="476250"/>
            <a:ext cx="11049000" cy="657225"/>
            <a:chOff x="571500" y="476250"/>
            <a:chExt cx="11049000" cy="657225"/>
          </a:xfrm>
        </p:grpSpPr>
        <p:sp>
          <p:nvSpPr>
            <p:cNvPr id="183" name="Google Shape;183;p19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Identifying Network Bottlenecks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571500" y="109537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A855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571500" y="1381125"/>
            <a:ext cx="11049000" cy="666900"/>
            <a:chOff x="571500" y="1381125"/>
            <a:chExt cx="11049000" cy="666900"/>
          </a:xfrm>
        </p:grpSpPr>
        <p:sp>
          <p:nvSpPr>
            <p:cNvPr id="186" name="Google Shape;186;p19"/>
            <p:cNvSpPr/>
            <p:nvPr/>
          </p:nvSpPr>
          <p:spPr>
            <a:xfrm>
              <a:off x="571500" y="1381125"/>
              <a:ext cx="11049000" cy="666900"/>
            </a:xfrm>
            <a:prstGeom prst="roundRect">
              <a:avLst>
                <a:gd name="adj" fmla="val 17142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857250" y="1381125"/>
              <a:ext cx="10477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94A338"/>
                  </a:solidFill>
                  <a:latin typeface="Inter"/>
                  <a:ea typeface="Inter"/>
                  <a:cs typeface="Inter"/>
                  <a:sym typeface="Inter"/>
                </a:rPr>
                <a:t>Computed a composite </a:t>
              </a:r>
              <a:r>
                <a:rPr lang="en-US" sz="15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Facility Impact Score</a:t>
              </a:r>
              <a:r>
                <a:rPr lang="en-US" sz="1500">
                  <a:solidFill>
                    <a:srgbClr val="94A338"/>
                  </a:solidFill>
                  <a:latin typeface="Inter"/>
                  <a:ea typeface="Inter"/>
                  <a:cs typeface="Inter"/>
                  <a:sym typeface="Inter"/>
                </a:rPr>
                <a:t> combining three dimensions to proactively isolate critical risk nodes.</a:t>
              </a:r>
              <a:endParaRPr sz="1500">
                <a:solidFill>
                  <a:srgbClr val="94A33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8" name="Google Shape;188;p19"/>
          <p:cNvGrpSpPr/>
          <p:nvPr/>
        </p:nvGrpSpPr>
        <p:grpSpPr>
          <a:xfrm>
            <a:off x="571500" y="2286000"/>
            <a:ext cx="3486300" cy="1524000"/>
            <a:chOff x="571500" y="2286000"/>
            <a:chExt cx="3486300" cy="1524000"/>
          </a:xfrm>
        </p:grpSpPr>
        <p:sp>
          <p:nvSpPr>
            <p:cNvPr id="189" name="Google Shape;189;p19"/>
            <p:cNvSpPr/>
            <p:nvPr/>
          </p:nvSpPr>
          <p:spPr>
            <a:xfrm>
              <a:off x="571500" y="2286000"/>
              <a:ext cx="3486300" cy="1524000"/>
            </a:xfrm>
            <a:prstGeom prst="roundRect">
              <a:avLst>
                <a:gd name="adj" fmla="val 10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857250" y="2571750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2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720">
                <a:solidFill>
                  <a:srgbClr val="A855F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53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1. PageRank</a:t>
              </a:r>
              <a:endParaRPr sz="153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Network Importance &amp; Centrality</a:t>
              </a:r>
              <a:endParaRPr sz="102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4352925" y="2286000"/>
            <a:ext cx="3486300" cy="1524000"/>
            <a:chOff x="4352925" y="2286000"/>
            <a:chExt cx="3486300" cy="1524000"/>
          </a:xfrm>
        </p:grpSpPr>
        <p:sp>
          <p:nvSpPr>
            <p:cNvPr id="192" name="Google Shape;192;p19"/>
            <p:cNvSpPr/>
            <p:nvPr/>
          </p:nvSpPr>
          <p:spPr>
            <a:xfrm>
              <a:off x="4352925" y="2286000"/>
              <a:ext cx="3486300" cy="1524000"/>
            </a:xfrm>
            <a:prstGeom prst="roundRect">
              <a:avLst>
                <a:gd name="adj" fmla="val 10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4638675" y="2571750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2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72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53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2. Throughput</a:t>
              </a:r>
              <a:endParaRPr sz="153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Physical Volume &amp; Capacity Load</a:t>
              </a:r>
              <a:endParaRPr sz="102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4" name="Google Shape;194;p19"/>
          <p:cNvGrpSpPr/>
          <p:nvPr/>
        </p:nvGrpSpPr>
        <p:grpSpPr>
          <a:xfrm>
            <a:off x="8124825" y="2286000"/>
            <a:ext cx="3486300" cy="1524000"/>
            <a:chOff x="8124825" y="2286000"/>
            <a:chExt cx="3486300" cy="1524000"/>
          </a:xfrm>
        </p:grpSpPr>
        <p:sp>
          <p:nvSpPr>
            <p:cNvPr id="195" name="Google Shape;195;p19"/>
            <p:cNvSpPr/>
            <p:nvPr/>
          </p:nvSpPr>
          <p:spPr>
            <a:xfrm>
              <a:off x="8124825" y="2286000"/>
              <a:ext cx="3486300" cy="1524000"/>
            </a:xfrm>
            <a:prstGeom prst="roundRect">
              <a:avLst>
                <a:gd name="adj" fmla="val 10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8410575" y="2571750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2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72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53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3. SLA Breach %</a:t>
              </a:r>
              <a:endParaRPr sz="153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Historical Delay Probability</a:t>
              </a:r>
              <a:endParaRPr sz="102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566738" y="4090988"/>
            <a:ext cx="10672763" cy="2005013"/>
            <a:chOff x="566738" y="4090988"/>
            <a:chExt cx="10672763" cy="2005013"/>
          </a:xfrm>
        </p:grpSpPr>
        <p:pic>
          <p:nvPicPr>
            <p:cNvPr id="198" name="Google Shape;198;p1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738" y="4090988"/>
              <a:ext cx="8577300" cy="10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9"/>
            <p:cNvSpPr txBox="1"/>
            <p:nvPr/>
          </p:nvSpPr>
          <p:spPr>
            <a:xfrm>
              <a:off x="952500" y="4381500"/>
              <a:ext cx="10287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Executive Insight: 370 Critical Nodes Detected</a:t>
              </a:r>
              <a:endParaRPr sz="2400" b="1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Top 5 critical nodes are responsible for </a:t>
              </a:r>
              <a:r>
                <a:rPr lang="en-US" sz="18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&gt;15% of all network delays</a:t>
              </a:r>
              <a:r>
                <a:rPr lang="en-US" sz="18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ctr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 i="1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Actionable recommendation: Focus capacity expansion at these exact hubs.</a:t>
              </a:r>
              <a:endParaRPr sz="1600" i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0"/>
          <p:cNvGrpSpPr/>
          <p:nvPr/>
        </p:nvGrpSpPr>
        <p:grpSpPr>
          <a:xfrm>
            <a:off x="571500" y="476250"/>
            <a:ext cx="11049000" cy="704850"/>
            <a:chOff x="571500" y="476250"/>
            <a:chExt cx="11049000" cy="704850"/>
          </a:xfrm>
        </p:grpSpPr>
        <p:sp>
          <p:nvSpPr>
            <p:cNvPr id="206" name="Google Shape;206;p20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Model Performance Comparison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571500" y="11430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571500" y="1524000"/>
            <a:ext cx="11049000" cy="3238500"/>
            <a:chOff x="571500" y="1524000"/>
            <a:chExt cx="11049000" cy="3238500"/>
          </a:xfrm>
        </p:grpSpPr>
        <p:sp>
          <p:nvSpPr>
            <p:cNvPr id="209" name="Google Shape;209;p20"/>
            <p:cNvSpPr/>
            <p:nvPr/>
          </p:nvSpPr>
          <p:spPr>
            <a:xfrm>
              <a:off x="571500" y="1524000"/>
              <a:ext cx="11049000" cy="3238500"/>
            </a:xfrm>
            <a:prstGeom prst="roundRect">
              <a:avLst>
                <a:gd name="adj" fmla="val 5882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857250" y="1762125"/>
              <a:ext cx="1047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MEAN ABSOLUTE ERROR (MINUTES)</a:t>
              </a:r>
              <a:endParaRPr sz="1400" b="1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grpSp>
          <p:nvGrpSpPr>
            <p:cNvPr id="211" name="Google Shape;211;p20"/>
            <p:cNvGrpSpPr/>
            <p:nvPr/>
          </p:nvGrpSpPr>
          <p:grpSpPr>
            <a:xfrm>
              <a:off x="857250" y="2286000"/>
              <a:ext cx="9715500" cy="1905000"/>
              <a:chOff x="857250" y="2286000"/>
              <a:chExt cx="9715500" cy="1905000"/>
            </a:xfrm>
          </p:grpSpPr>
          <p:grpSp>
            <p:nvGrpSpPr>
              <p:cNvPr id="212" name="Google Shape;212;p20"/>
              <p:cNvGrpSpPr/>
              <p:nvPr/>
            </p:nvGrpSpPr>
            <p:grpSpPr>
              <a:xfrm>
                <a:off x="857250" y="2286000"/>
                <a:ext cx="9715500" cy="381000"/>
                <a:chOff x="857250" y="2286000"/>
                <a:chExt cx="9715500" cy="381000"/>
              </a:xfrm>
            </p:grpSpPr>
            <p:sp>
              <p:nvSpPr>
                <p:cNvPr id="213" name="Google Shape;213;p20"/>
                <p:cNvSpPr txBox="1"/>
                <p:nvPr/>
              </p:nvSpPr>
              <p:spPr>
                <a:xfrm>
                  <a:off x="857250" y="2286000"/>
                  <a:ext cx="2857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F8FAFC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Baseline XGBoost</a:t>
                  </a:r>
                  <a:br>
                    <a:rPr lang="en-US" sz="1400" b="0">
                      <a:solidFill>
                        <a:srgbClr val="F8FAFC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</a:br>
                  <a:r>
                    <a:rPr lang="en-US" sz="1000" b="0">
                      <a:solidFill>
                        <a:srgbClr val="64748B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(Tabular Only)</a:t>
                  </a:r>
                  <a:endParaRPr sz="1400" b="0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  <p:sp>
              <p:nvSpPr>
                <p:cNvPr id="214" name="Google Shape;214;p20"/>
                <p:cNvSpPr/>
                <p:nvPr/>
              </p:nvSpPr>
              <p:spPr>
                <a:xfrm>
                  <a:off x="3810000" y="2333625"/>
                  <a:ext cx="5715000" cy="2859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334155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20"/>
                <p:cNvSpPr txBox="1"/>
                <p:nvPr/>
              </p:nvSpPr>
              <p:spPr>
                <a:xfrm>
                  <a:off x="9620250" y="2333625"/>
                  <a:ext cx="952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94A3B8"/>
                      </a:solidFill>
                      <a:latin typeface="Space Grotesk SemiBold"/>
                      <a:ea typeface="Space Grotesk SemiBold"/>
                      <a:cs typeface="Space Grotesk SemiBold"/>
                      <a:sym typeface="Space Grotesk SemiBold"/>
                    </a:rPr>
                    <a:t>72.31</a:t>
                  </a:r>
                  <a:endParaRPr sz="1400" b="0">
                    <a:solidFill>
                      <a:srgbClr val="94A3B8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endParaRPr>
                </a:p>
              </p:txBody>
            </p:sp>
          </p:grpSp>
          <p:grpSp>
            <p:nvGrpSpPr>
              <p:cNvPr id="216" name="Google Shape;216;p20"/>
              <p:cNvGrpSpPr/>
              <p:nvPr/>
            </p:nvGrpSpPr>
            <p:grpSpPr>
              <a:xfrm>
                <a:off x="857250" y="3048000"/>
                <a:ext cx="9048750" cy="381000"/>
                <a:chOff x="857250" y="3048000"/>
                <a:chExt cx="9048750" cy="381000"/>
              </a:xfrm>
            </p:grpSpPr>
            <p:sp>
              <p:nvSpPr>
                <p:cNvPr id="217" name="Google Shape;217;p20"/>
                <p:cNvSpPr txBox="1"/>
                <p:nvPr/>
              </p:nvSpPr>
              <p:spPr>
                <a:xfrm>
                  <a:off x="857250" y="3048000"/>
                  <a:ext cx="2857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F8FAFC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Node2Vec + XGBoost</a:t>
                  </a:r>
                  <a:br>
                    <a:rPr lang="en-US" sz="1400" b="0">
                      <a:solidFill>
                        <a:srgbClr val="F8FAFC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</a:br>
                  <a:r>
                    <a:rPr lang="en-US" sz="1000" b="0">
                      <a:solidFill>
                        <a:srgbClr val="64748B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(Network Aware)</a:t>
                  </a:r>
                  <a:endParaRPr sz="1400" b="0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  <p:sp>
              <p:nvSpPr>
                <p:cNvPr id="218" name="Google Shape;218;p20"/>
                <p:cNvSpPr/>
                <p:nvPr/>
              </p:nvSpPr>
              <p:spPr>
                <a:xfrm>
                  <a:off x="3810000" y="3095625"/>
                  <a:ext cx="5048400" cy="2859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3B82F6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20"/>
                <p:cNvSpPr txBox="1"/>
                <p:nvPr/>
              </p:nvSpPr>
              <p:spPr>
                <a:xfrm>
                  <a:off x="8953500" y="3095625"/>
                  <a:ext cx="952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3B82F6"/>
                      </a:solidFill>
                      <a:latin typeface="Space Grotesk SemiBold"/>
                      <a:ea typeface="Space Grotesk SemiBold"/>
                      <a:cs typeface="Space Grotesk SemiBold"/>
                      <a:sym typeface="Space Grotesk SemiBold"/>
                    </a:rPr>
                    <a:t>64.00</a:t>
                  </a:r>
                  <a:endParaRPr sz="1400" b="0">
                    <a:solidFill>
                      <a:srgbClr val="3B82F6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endParaRPr>
                </a:p>
              </p:txBody>
            </p:sp>
          </p:grpSp>
          <p:grpSp>
            <p:nvGrpSpPr>
              <p:cNvPr id="220" name="Google Shape;220;p20"/>
              <p:cNvGrpSpPr/>
              <p:nvPr/>
            </p:nvGrpSpPr>
            <p:grpSpPr>
              <a:xfrm>
                <a:off x="857250" y="3810000"/>
                <a:ext cx="8858250" cy="381000"/>
                <a:chOff x="857250" y="3810000"/>
                <a:chExt cx="8858250" cy="381000"/>
              </a:xfrm>
            </p:grpSpPr>
            <p:sp>
              <p:nvSpPr>
                <p:cNvPr id="221" name="Google Shape;221;p20"/>
                <p:cNvSpPr txBox="1"/>
                <p:nvPr/>
              </p:nvSpPr>
              <p:spPr>
                <a:xfrm>
                  <a:off x="857250" y="3810000"/>
                  <a:ext cx="28575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Graph + LightGBM</a:t>
                  </a:r>
                  <a:br>
                    <a:rPr lang="en-US" sz="14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</a:br>
                  <a:r>
                    <a:rPr lang="en-US" sz="1000" b="1">
                      <a:solidFill>
                        <a:srgbClr val="10B98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(Final Champion)</a:t>
                  </a:r>
                  <a:endParaRPr sz="1400" b="1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pic>
              <p:nvPicPr>
                <p:cNvPr id="222" name="Google Shape;222;p20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810000" y="3857625"/>
                  <a:ext cx="4857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23" name="Google Shape;223;p20"/>
                <p:cNvSpPr txBox="1"/>
                <p:nvPr/>
              </p:nvSpPr>
              <p:spPr>
                <a:xfrm>
                  <a:off x="8763000" y="3857625"/>
                  <a:ext cx="952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 b="1">
                      <a:solidFill>
                        <a:srgbClr val="10B981"/>
                      </a:solidFill>
                      <a:latin typeface="Space Grotesk"/>
                      <a:ea typeface="Space Grotesk"/>
                      <a:cs typeface="Space Grotesk"/>
                      <a:sym typeface="Space Grotesk"/>
                    </a:rPr>
                    <a:t>62.09</a:t>
                  </a:r>
                  <a:endParaRPr sz="1600" b="1">
                    <a:solidFill>
                      <a:srgbClr val="10B981"/>
                    </a:solidFill>
                    <a:latin typeface="Space Grotesk"/>
                    <a:ea typeface="Space Grotesk"/>
                    <a:cs typeface="Space Grotesk"/>
                    <a:sym typeface="Space Grotesk"/>
                  </a:endParaRPr>
                </a:p>
              </p:txBody>
            </p:sp>
          </p:grpSp>
        </p:grpSp>
      </p:grpSp>
      <p:grpSp>
        <p:nvGrpSpPr>
          <p:cNvPr id="224" name="Google Shape;224;p20"/>
          <p:cNvGrpSpPr/>
          <p:nvPr/>
        </p:nvGrpSpPr>
        <p:grpSpPr>
          <a:xfrm>
            <a:off x="571500" y="5048250"/>
            <a:ext cx="3429000" cy="1238400"/>
            <a:chOff x="571500" y="5048250"/>
            <a:chExt cx="3429000" cy="1238400"/>
          </a:xfrm>
        </p:grpSpPr>
        <p:sp>
          <p:nvSpPr>
            <p:cNvPr id="225" name="Google Shape;225;p20"/>
            <p:cNvSpPr/>
            <p:nvPr/>
          </p:nvSpPr>
          <p:spPr>
            <a:xfrm>
              <a:off x="571500" y="5048250"/>
              <a:ext cx="3429000" cy="1238400"/>
            </a:xfrm>
            <a:prstGeom prst="roundRect">
              <a:avLst>
                <a:gd name="adj" fmla="val 12307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 txBox="1"/>
            <p:nvPr/>
          </p:nvSpPr>
          <p:spPr>
            <a:xfrm>
              <a:off x="571500" y="5048250"/>
              <a:ext cx="3429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14.1%</a:t>
              </a:r>
              <a:endParaRPr sz="3200" b="1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Error Reduction</a:t>
              </a:r>
              <a:endParaRPr sz="12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4381500" y="5048250"/>
            <a:ext cx="3429000" cy="1238400"/>
            <a:chOff x="4381500" y="5048250"/>
            <a:chExt cx="3429000" cy="1238400"/>
          </a:xfrm>
        </p:grpSpPr>
        <p:sp>
          <p:nvSpPr>
            <p:cNvPr id="228" name="Google Shape;228;p20"/>
            <p:cNvSpPr/>
            <p:nvPr/>
          </p:nvSpPr>
          <p:spPr>
            <a:xfrm>
              <a:off x="4381500" y="5048250"/>
              <a:ext cx="3429000" cy="1238400"/>
            </a:xfrm>
            <a:prstGeom prst="roundRect">
              <a:avLst>
                <a:gd name="adj" fmla="val 12307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4381500" y="5048250"/>
              <a:ext cx="3429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0.91</a:t>
              </a:r>
              <a:endParaRPr sz="3200" b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R² Score</a:t>
              </a:r>
              <a:endParaRPr sz="12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8191500" y="5048250"/>
            <a:ext cx="3429000" cy="1238400"/>
            <a:chOff x="8191500" y="5048250"/>
            <a:chExt cx="3429000" cy="1238400"/>
          </a:xfrm>
        </p:grpSpPr>
        <p:sp>
          <p:nvSpPr>
            <p:cNvPr id="231" name="Google Shape;231;p20"/>
            <p:cNvSpPr/>
            <p:nvPr/>
          </p:nvSpPr>
          <p:spPr>
            <a:xfrm>
              <a:off x="8191500" y="5048250"/>
              <a:ext cx="3429000" cy="1238400"/>
            </a:xfrm>
            <a:prstGeom prst="roundRect">
              <a:avLst>
                <a:gd name="adj" fmla="val 12307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0"/>
            <p:cNvSpPr txBox="1"/>
            <p:nvPr/>
          </p:nvSpPr>
          <p:spPr>
            <a:xfrm>
              <a:off x="8191500" y="5048250"/>
              <a:ext cx="3429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 b="1">
                  <a:solidFill>
                    <a:srgbClr val="3B82F6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67.4%</a:t>
              </a:r>
              <a:endParaRPr sz="3200" b="1">
                <a:solidFill>
                  <a:srgbClr val="3B82F6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Accuracy @ 15% Error</a:t>
              </a:r>
              <a:endParaRPr sz="12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21"/>
          <p:cNvGrpSpPr/>
          <p:nvPr/>
        </p:nvGrpSpPr>
        <p:grpSpPr>
          <a:xfrm>
            <a:off x="571500" y="476250"/>
            <a:ext cx="11049000" cy="657225"/>
            <a:chOff x="571500" y="476250"/>
            <a:chExt cx="11049000" cy="657225"/>
          </a:xfrm>
        </p:grpSpPr>
        <p:sp>
          <p:nvSpPr>
            <p:cNvPr id="239" name="Google Shape;239;p21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Corridor Health Distribution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571500" y="109537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A855F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571500" y="1524000"/>
            <a:ext cx="11049000" cy="4572000"/>
            <a:chOff x="571500" y="1524000"/>
            <a:chExt cx="11049000" cy="4572000"/>
          </a:xfrm>
        </p:grpSpPr>
        <p:sp>
          <p:nvSpPr>
            <p:cNvPr id="242" name="Google Shape;242;p21"/>
            <p:cNvSpPr/>
            <p:nvPr/>
          </p:nvSpPr>
          <p:spPr>
            <a:xfrm>
              <a:off x="571500" y="1524000"/>
              <a:ext cx="11049000" cy="4572000"/>
            </a:xfrm>
            <a:prstGeom prst="roundRect">
              <a:avLst>
                <a:gd name="adj" fmla="val 4166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" name="Google Shape;243;p21"/>
            <p:cNvGrpSpPr/>
            <p:nvPr/>
          </p:nvGrpSpPr>
          <p:grpSpPr>
            <a:xfrm>
              <a:off x="1428750" y="2286000"/>
              <a:ext cx="3048000" cy="3048038"/>
              <a:chOff x="0" y="0"/>
              <a:chExt cx="3048000" cy="3048038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190500" y="190500"/>
                <a:ext cx="2667000" cy="26670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381000" cap="flat" cmpd="sng">
                <a:solidFill>
                  <a:srgbClr val="1F29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5" name="Google Shape;245;p21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524000" y="0"/>
                <a:ext cx="1524000" cy="2438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21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362075" y="2205038"/>
                <a:ext cx="1386000" cy="843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21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0" y="119063"/>
                <a:ext cx="1404900" cy="29241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21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923925" y="0"/>
                <a:ext cx="600000" cy="476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" name="Google Shape;249;p21"/>
              <p:cNvSpPr txBox="1"/>
              <p:nvPr/>
            </p:nvSpPr>
            <p:spPr>
              <a:xfrm>
                <a:off x="571500" y="1047750"/>
                <a:ext cx="19050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200" b="1">
                    <a:solidFill>
                      <a:srgbClr val="F8FAFC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2,508</a:t>
                </a:r>
                <a:endParaRPr sz="3200" b="1">
                  <a:solidFill>
                    <a:srgbClr val="F8FAFC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94A3B8"/>
                    </a:solidFill>
                    <a:latin typeface="Space Grotesk Medium"/>
                    <a:ea typeface="Space Grotesk Medium"/>
                    <a:cs typeface="Space Grotesk Medium"/>
                    <a:sym typeface="Space Grotesk Medium"/>
                  </a:rPr>
                  <a:t>Corridors</a:t>
                </a:r>
                <a:endParaRPr sz="1200" b="0">
                  <a:solidFill>
                    <a:srgbClr val="94A3B8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250" name="Google Shape;250;p21"/>
            <p:cNvGrpSpPr/>
            <p:nvPr/>
          </p:nvGrpSpPr>
          <p:grpSpPr>
            <a:xfrm>
              <a:off x="5905500" y="2000250"/>
              <a:ext cx="4191000" cy="2381250"/>
              <a:chOff x="0" y="-95250"/>
              <a:chExt cx="4191000" cy="2381250"/>
            </a:xfrm>
          </p:grpSpPr>
          <p:grpSp>
            <p:nvGrpSpPr>
              <p:cNvPr id="251" name="Google Shape;251;p21"/>
              <p:cNvGrpSpPr/>
              <p:nvPr/>
            </p:nvGrpSpPr>
            <p:grpSpPr>
              <a:xfrm>
                <a:off x="0" y="-95250"/>
                <a:ext cx="4191000" cy="381000"/>
                <a:chOff x="0" y="-95250"/>
                <a:chExt cx="4191000" cy="381000"/>
              </a:xfrm>
            </p:grpSpPr>
            <p:sp>
              <p:nvSpPr>
                <p:cNvPr id="252" name="Google Shape;252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EF4444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" name="Google Shape;253;p21"/>
                <p:cNvSpPr txBox="1"/>
                <p:nvPr/>
              </p:nvSpPr>
              <p:spPr>
                <a:xfrm>
                  <a:off x="381000" y="-9525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Severe Delay </a:t>
                  </a:r>
                  <a:r>
                    <a:rPr lang="en-US" sz="1200">
                      <a:solidFill>
                        <a:srgbClr val="94A3B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(&gt;50% Breach)</a:t>
                  </a: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— </a:t>
                  </a:r>
                  <a:r>
                    <a:rPr lang="en-US" sz="15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35.2%</a:t>
                  </a:r>
                  <a:endParaRPr sz="15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54" name="Google Shape;254;p21"/>
              <p:cNvGrpSpPr/>
              <p:nvPr/>
            </p:nvGrpSpPr>
            <p:grpSpPr>
              <a:xfrm>
                <a:off x="0" y="571500"/>
                <a:ext cx="4191000" cy="381000"/>
                <a:chOff x="0" y="-95250"/>
                <a:chExt cx="4191000" cy="381000"/>
              </a:xfrm>
            </p:grpSpPr>
            <p:sp>
              <p:nvSpPr>
                <p:cNvPr id="255" name="Google Shape;255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59E0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21"/>
                <p:cNvSpPr txBox="1"/>
                <p:nvPr/>
              </p:nvSpPr>
              <p:spPr>
                <a:xfrm>
                  <a:off x="381000" y="-9525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Critical Delay </a:t>
                  </a:r>
                  <a:r>
                    <a:rPr lang="en-US" sz="1200">
                      <a:solidFill>
                        <a:srgbClr val="94A3B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(30-50%)</a:t>
                  </a: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— </a:t>
                  </a:r>
                  <a:r>
                    <a:rPr lang="en-US" sz="15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16.5%</a:t>
                  </a:r>
                  <a:endParaRPr sz="15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57" name="Google Shape;257;p21"/>
              <p:cNvGrpSpPr/>
              <p:nvPr/>
            </p:nvGrpSpPr>
            <p:grpSpPr>
              <a:xfrm>
                <a:off x="0" y="1238250"/>
                <a:ext cx="4191000" cy="381000"/>
                <a:chOff x="0" y="-95250"/>
                <a:chExt cx="4191000" cy="381000"/>
              </a:xfrm>
            </p:grpSpPr>
            <p:sp>
              <p:nvSpPr>
                <p:cNvPr id="258" name="Google Shape;258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A855F7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1"/>
                <p:cNvSpPr txBox="1"/>
                <p:nvPr/>
              </p:nvSpPr>
              <p:spPr>
                <a:xfrm>
                  <a:off x="381000" y="-9525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Moderate Delay </a:t>
                  </a:r>
                  <a:r>
                    <a:rPr lang="en-US" sz="1200">
                      <a:solidFill>
                        <a:srgbClr val="94A3B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(10-30%)</a:t>
                  </a: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— </a:t>
                  </a:r>
                  <a:r>
                    <a:rPr lang="en-US" sz="15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41.9%</a:t>
                  </a:r>
                  <a:endParaRPr sz="15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60" name="Google Shape;260;p21"/>
              <p:cNvGrpSpPr/>
              <p:nvPr/>
            </p:nvGrpSpPr>
            <p:grpSpPr>
              <a:xfrm>
                <a:off x="0" y="1905000"/>
                <a:ext cx="4191000" cy="381000"/>
                <a:chOff x="0" y="-95250"/>
                <a:chExt cx="4191000" cy="381000"/>
              </a:xfrm>
            </p:grpSpPr>
            <p:sp>
              <p:nvSpPr>
                <p:cNvPr id="261" name="Google Shape;261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10B981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21"/>
                <p:cNvSpPr txBox="1"/>
                <p:nvPr/>
              </p:nvSpPr>
              <p:spPr>
                <a:xfrm>
                  <a:off x="381000" y="-95250"/>
                  <a:ext cx="3810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Healthy </a:t>
                  </a:r>
                  <a:r>
                    <a:rPr lang="en-US" sz="1200">
                      <a:solidFill>
                        <a:srgbClr val="94A3B8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(&lt;10%)</a:t>
                  </a:r>
                  <a:r>
                    <a:rPr lang="en-US" sz="1500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— </a:t>
                  </a:r>
                  <a:r>
                    <a:rPr lang="en-US" sz="1500" b="1">
                      <a:solidFill>
                        <a:srgbClr val="F8FAFC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6.42%</a:t>
                  </a:r>
                  <a:endParaRPr sz="15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2"/>
          <p:cNvGrpSpPr/>
          <p:nvPr/>
        </p:nvGrpSpPr>
        <p:grpSpPr>
          <a:xfrm>
            <a:off x="571500" y="476250"/>
            <a:ext cx="11049000" cy="942975"/>
            <a:chOff x="571500" y="476250"/>
            <a:chExt cx="11049000" cy="942975"/>
          </a:xfrm>
        </p:grpSpPr>
        <p:sp>
          <p:nvSpPr>
            <p:cNvPr id="270" name="Google Shape;270;p22"/>
            <p:cNvSpPr txBox="1"/>
            <p:nvPr/>
          </p:nvSpPr>
          <p:spPr>
            <a:xfrm>
              <a:off x="571500" y="476250"/>
              <a:ext cx="11049000" cy="2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10B981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LOGISTICS OPTIMIZATION</a:t>
              </a:r>
              <a:endParaRPr sz="1200" b="0">
                <a:solidFill>
                  <a:srgbClr val="10B98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571500" y="762000"/>
              <a:ext cx="11049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FTL vs Carting Intelligence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72" name="Google Shape;272;p22"/>
            <p:cNvSpPr/>
            <p:nvPr/>
          </p:nvSpPr>
          <p:spPr>
            <a:xfrm>
              <a:off x="571500" y="138112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" name="Google Shape;273;p22"/>
          <p:cNvSpPr txBox="1"/>
          <p:nvPr/>
        </p:nvSpPr>
        <p:spPr>
          <a:xfrm>
            <a:off x="571500" y="17145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Different vehicle types exhibit completely different delay patterns across the network topology.</a:t>
            </a:r>
            <a:endParaRPr sz="16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4" name="Google Shape;274;p22"/>
          <p:cNvGrpSpPr/>
          <p:nvPr/>
        </p:nvGrpSpPr>
        <p:grpSpPr>
          <a:xfrm>
            <a:off x="571500" y="2286000"/>
            <a:ext cx="5334000" cy="1952775"/>
            <a:chOff x="571500" y="2286000"/>
            <a:chExt cx="5334000" cy="1952775"/>
          </a:xfrm>
        </p:grpSpPr>
        <p:sp>
          <p:nvSpPr>
            <p:cNvPr id="275" name="Google Shape;275;p22"/>
            <p:cNvSpPr/>
            <p:nvPr/>
          </p:nvSpPr>
          <p:spPr>
            <a:xfrm>
              <a:off x="571500" y="2286000"/>
              <a:ext cx="5334000" cy="1905000"/>
            </a:xfrm>
            <a:prstGeom prst="roundRect">
              <a:avLst>
                <a:gd name="adj" fmla="val 8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 txBox="1"/>
            <p:nvPr/>
          </p:nvSpPr>
          <p:spPr>
            <a:xfrm>
              <a:off x="857249" y="2606802"/>
              <a:ext cx="1836789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local_shipping</a:t>
              </a:r>
              <a:endParaRPr sz="24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857250" y="3000375"/>
              <a:ext cx="44769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FTL (Full Truck Load)</a:t>
              </a:r>
              <a:endParaRPr sz="1800" b="0" dirty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 dirty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Susceptible to highway congestion and specific hub unload delays.</a:t>
              </a:r>
              <a:endParaRPr sz="1300" b="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8" name="Google Shape;278;p22"/>
          <p:cNvGrpSpPr/>
          <p:nvPr/>
        </p:nvGrpSpPr>
        <p:grpSpPr>
          <a:xfrm>
            <a:off x="6286500" y="2286000"/>
            <a:ext cx="5334000" cy="1952775"/>
            <a:chOff x="6286500" y="2286000"/>
            <a:chExt cx="5334000" cy="1952775"/>
          </a:xfrm>
        </p:grpSpPr>
        <p:sp>
          <p:nvSpPr>
            <p:cNvPr id="279" name="Google Shape;279;p22"/>
            <p:cNvSpPr/>
            <p:nvPr/>
          </p:nvSpPr>
          <p:spPr>
            <a:xfrm>
              <a:off x="6286500" y="2286000"/>
              <a:ext cx="5334000" cy="1905000"/>
            </a:xfrm>
            <a:prstGeom prst="roundRect">
              <a:avLst>
                <a:gd name="adj" fmla="val 8000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 txBox="1"/>
            <p:nvPr/>
          </p:nvSpPr>
          <p:spPr>
            <a:xfrm>
              <a:off x="6572249" y="2606802"/>
              <a:ext cx="2011311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delivery_dining</a:t>
              </a:r>
              <a:endParaRPr sz="2400" dirty="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1" name="Google Shape;281;p22"/>
            <p:cNvSpPr txBox="1"/>
            <p:nvPr/>
          </p:nvSpPr>
          <p:spPr>
            <a:xfrm>
              <a:off x="6572250" y="3000375"/>
              <a:ext cx="44769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Carting (Intracity Vans)</a:t>
              </a:r>
              <a:endParaRPr sz="18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Impacted by local urban traffic and time-of-day constraints.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2" name="Google Shape;282;p22"/>
          <p:cNvGrpSpPr/>
          <p:nvPr/>
        </p:nvGrpSpPr>
        <p:grpSpPr>
          <a:xfrm>
            <a:off x="571500" y="4572000"/>
            <a:ext cx="11049000" cy="1714500"/>
            <a:chOff x="571500" y="4572000"/>
            <a:chExt cx="11049000" cy="1714500"/>
          </a:xfrm>
        </p:grpSpPr>
        <p:sp>
          <p:nvSpPr>
            <p:cNvPr id="283" name="Google Shape;283;p22"/>
            <p:cNvSpPr/>
            <p:nvPr/>
          </p:nvSpPr>
          <p:spPr>
            <a:xfrm>
              <a:off x="571500" y="4572000"/>
              <a:ext cx="11049000" cy="1714500"/>
            </a:xfrm>
            <a:prstGeom prst="roundRect">
              <a:avLst>
                <a:gd name="adj" fmla="val 8888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952500" y="4820920"/>
              <a:ext cx="2469126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7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5" name="Google Shape;285;p22"/>
            <p:cNvSpPr txBox="1"/>
            <p:nvPr/>
          </p:nvSpPr>
          <p:spPr>
            <a:xfrm>
              <a:off x="1809750" y="4810125"/>
              <a:ext cx="8572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dirty="0">
                  <a:solidFill>
                    <a:srgbClr val="3B82F6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Interactive Vehicle Advisor</a:t>
              </a:r>
              <a:endParaRPr sz="2000" b="0" dirty="0">
                <a:solidFill>
                  <a:srgbClr val="3B82F6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1809750" y="5286375"/>
              <a:ext cx="8572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Corridors exceeding a </a:t>
              </a:r>
              <a:r>
                <a:rPr lang="en-US" sz="14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&gt;2.0x delay ratio</a:t>
              </a:r>
              <a:r>
                <a:rPr lang="en-US" sz="14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are automatically flagged in the dashboard for immediate vehicle type re-allocation.</a:t>
              </a:r>
              <a:endParaRPr sz="14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571500" y="476250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Executive Business Impact</a:t>
            </a:r>
            <a:endParaRPr sz="3600" b="0">
              <a:solidFill>
                <a:srgbClr val="F8FAFC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571500" y="10953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23"/>
          <p:cNvGrpSpPr/>
          <p:nvPr/>
        </p:nvGrpSpPr>
        <p:grpSpPr>
          <a:xfrm>
            <a:off x="571500" y="1714500"/>
            <a:ext cx="3429000" cy="4000500"/>
            <a:chOff x="571500" y="1714500"/>
            <a:chExt cx="3429000" cy="4000500"/>
          </a:xfrm>
        </p:grpSpPr>
        <p:sp>
          <p:nvSpPr>
            <p:cNvPr id="295" name="Google Shape;295;p23"/>
            <p:cNvSpPr/>
            <p:nvPr/>
          </p:nvSpPr>
          <p:spPr>
            <a:xfrm>
              <a:off x="571500" y="1714500"/>
              <a:ext cx="3429000" cy="4000500"/>
            </a:xfrm>
            <a:prstGeom prst="roundRect">
              <a:avLst>
                <a:gd name="adj" fmla="val 5555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3"/>
            <p:cNvSpPr txBox="1"/>
            <p:nvPr/>
          </p:nvSpPr>
          <p:spPr>
            <a:xfrm>
              <a:off x="857250" y="2052828"/>
              <a:ext cx="2033434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3600" dirty="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7" name="Google Shape;297;p23"/>
            <p:cNvSpPr txBox="1"/>
            <p:nvPr/>
          </p:nvSpPr>
          <p:spPr>
            <a:xfrm>
              <a:off x="857250" y="26670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Command Center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857250" y="3190875"/>
              <a:ext cx="2857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Deployed a 'Network Operations Command Center' Dashboard for real-time monitoring of corridors, ETAs, and bottleneck formation.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4381500" y="1714500"/>
            <a:ext cx="3429000" cy="4000500"/>
            <a:chOff x="4381500" y="1714500"/>
            <a:chExt cx="3429000" cy="4000500"/>
          </a:xfrm>
        </p:grpSpPr>
        <p:sp>
          <p:nvSpPr>
            <p:cNvPr id="300" name="Google Shape;300;p23"/>
            <p:cNvSpPr/>
            <p:nvPr/>
          </p:nvSpPr>
          <p:spPr>
            <a:xfrm>
              <a:off x="4381500" y="1714500"/>
              <a:ext cx="3429000" cy="4000500"/>
            </a:xfrm>
            <a:prstGeom prst="roundRect">
              <a:avLst>
                <a:gd name="adj" fmla="val 5555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 txBox="1"/>
            <p:nvPr/>
          </p:nvSpPr>
          <p:spPr>
            <a:xfrm>
              <a:off x="4667249" y="2052828"/>
              <a:ext cx="2303821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 err="1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600" dirty="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2" name="Google Shape;302;p23"/>
            <p:cNvSpPr txBox="1"/>
            <p:nvPr/>
          </p:nvSpPr>
          <p:spPr>
            <a:xfrm>
              <a:off x="4667250" y="26670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SLA Improvement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03" name="Google Shape;303;p23"/>
            <p:cNvSpPr txBox="1"/>
            <p:nvPr/>
          </p:nvSpPr>
          <p:spPr>
            <a:xfrm>
              <a:off x="4667250" y="3190875"/>
              <a:ext cx="2857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Estimated Revenue at Risk tracking enables targeted intervention.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Projected overall SLA fulfillment improvement of </a:t>
              </a:r>
              <a:r>
                <a:rPr lang="en-US" sz="1300" b="1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20-30%</a:t>
              </a: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p23"/>
          <p:cNvGrpSpPr/>
          <p:nvPr/>
        </p:nvGrpSpPr>
        <p:grpSpPr>
          <a:xfrm>
            <a:off x="8191500" y="1714500"/>
            <a:ext cx="3429000" cy="4000500"/>
            <a:chOff x="8191500" y="1714500"/>
            <a:chExt cx="3429000" cy="4000500"/>
          </a:xfrm>
        </p:grpSpPr>
        <p:sp>
          <p:nvSpPr>
            <p:cNvPr id="305" name="Google Shape;305;p23"/>
            <p:cNvSpPr/>
            <p:nvPr/>
          </p:nvSpPr>
          <p:spPr>
            <a:xfrm>
              <a:off x="8191500" y="1714500"/>
              <a:ext cx="3429000" cy="4000500"/>
            </a:xfrm>
            <a:prstGeom prst="roundRect">
              <a:avLst>
                <a:gd name="adj" fmla="val 5555"/>
              </a:avLst>
            </a:prstGeom>
            <a:solidFill>
              <a:srgbClr val="111827">
                <a:alpha val="80000"/>
              </a:srgbClr>
            </a:solidFill>
            <a:ln w="9525" cap="flat" cmpd="sng">
              <a:solidFill>
                <a:srgbClr val="1F29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3"/>
            <p:cNvSpPr txBox="1"/>
            <p:nvPr/>
          </p:nvSpPr>
          <p:spPr>
            <a:xfrm>
              <a:off x="8477250" y="2052828"/>
              <a:ext cx="188595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dirty="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600" dirty="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8477250" y="2667000"/>
              <a:ext cx="2857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Revenue Recovery</a:t>
              </a:r>
              <a:endParaRPr sz="20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08" name="Google Shape;308;p23"/>
            <p:cNvSpPr txBox="1"/>
            <p:nvPr/>
          </p:nvSpPr>
          <p:spPr>
            <a:xfrm>
              <a:off x="8477250" y="3190875"/>
              <a:ext cx="2857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By minimizing severe delays through routing optimization and vehicle reallocation.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Estimated revenue recovery is </a:t>
              </a:r>
              <a:r>
                <a:rPr lang="en-US" sz="1300" b="1">
                  <a:solidFill>
                    <a:srgbClr val="F59E0B"/>
                  </a:solidFill>
                  <a:latin typeface="Inter"/>
                  <a:ea typeface="Inter"/>
                  <a:cs typeface="Inter"/>
                  <a:sym typeface="Inter"/>
                </a:rPr>
                <a:t>₹2-5 Cr annually</a:t>
              </a:r>
              <a:r>
                <a:rPr lang="en-US" sz="13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3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4"/>
          <p:cNvGrpSpPr/>
          <p:nvPr/>
        </p:nvGrpSpPr>
        <p:grpSpPr>
          <a:xfrm>
            <a:off x="571500" y="476250"/>
            <a:ext cx="11049000" cy="657225"/>
            <a:chOff x="571500" y="476250"/>
            <a:chExt cx="11049000" cy="657225"/>
          </a:xfrm>
        </p:grpSpPr>
        <p:sp>
          <p:nvSpPr>
            <p:cNvPr id="314" name="Google Shape;314;p24"/>
            <p:cNvSpPr txBox="1"/>
            <p:nvPr/>
          </p:nvSpPr>
          <p:spPr>
            <a:xfrm>
              <a:off x="571500" y="476250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Strategic Roadmap &amp; Future Scope</a:t>
              </a:r>
              <a:endParaRPr sz="3600" b="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571500" y="1095375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24"/>
          <p:cNvGrpSpPr/>
          <p:nvPr/>
        </p:nvGrpSpPr>
        <p:grpSpPr>
          <a:xfrm>
            <a:off x="571500" y="1714500"/>
            <a:ext cx="10763250" cy="3429000"/>
            <a:chOff x="571500" y="1714500"/>
            <a:chExt cx="10763250" cy="3429000"/>
          </a:xfrm>
        </p:grpSpPr>
        <p:pic>
          <p:nvPicPr>
            <p:cNvPr id="317" name="Google Shape;317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52500" y="3419475"/>
              <a:ext cx="8153400" cy="1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8" name="Google Shape;318;p24"/>
            <p:cNvGrpSpPr/>
            <p:nvPr/>
          </p:nvGrpSpPr>
          <p:grpSpPr>
            <a:xfrm>
              <a:off x="571500" y="1714500"/>
              <a:ext cx="2476500" cy="3429000"/>
              <a:chOff x="0" y="0"/>
              <a:chExt cx="2476500" cy="3429000"/>
            </a:xfrm>
          </p:grpSpPr>
          <p:sp>
            <p:nvSpPr>
              <p:cNvPr id="319" name="Google Shape;319;p24"/>
              <p:cNvSpPr/>
              <p:nvPr/>
            </p:nvSpPr>
            <p:spPr>
              <a:xfrm>
                <a:off x="0" y="0"/>
                <a:ext cx="2476500" cy="3429000"/>
              </a:xfrm>
              <a:prstGeom prst="roundRect">
                <a:avLst>
                  <a:gd name="adj" fmla="val 7692"/>
                </a:avLst>
              </a:prstGeom>
              <a:solidFill>
                <a:srgbClr val="111827">
                  <a:alpha val="80000"/>
                </a:srgbClr>
              </a:solidFill>
              <a:ln w="9525" cap="flat" cmpd="sng">
                <a:solidFill>
                  <a:srgbClr val="10B98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4"/>
              <p:cNvSpPr txBox="1"/>
              <p:nvPr/>
            </p:nvSpPr>
            <p:spPr>
              <a:xfrm>
                <a:off x="190500" y="273177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10B981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schedule</a:t>
                </a:r>
                <a:endParaRPr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1" name="Google Shape;321;p24"/>
              <p:cNvSpPr txBox="1"/>
              <p:nvPr/>
            </p:nvSpPr>
            <p:spPr>
              <a:xfrm>
                <a:off x="190500" y="714375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10B98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90-Day Plan</a:t>
                </a:r>
                <a:endParaRPr sz="1500" b="1">
                  <a:solidFill>
                    <a:srgbClr val="10B98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22" name="Google Shape;322;p24"/>
              <p:cNvSpPr txBox="1"/>
              <p:nvPr/>
            </p:nvSpPr>
            <p:spPr>
              <a:xfrm>
                <a:off x="190500" y="20002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Deploy the ETA correction model API strictly across the </a:t>
                </a:r>
                <a:r>
                  <a:rPr lang="en-US" sz="1100" b="1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Top 50 highest-volume corridors</a:t>
                </a: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for immediate impact.</a:t>
                </a:r>
                <a:endParaRPr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3" name="Google Shape;323;p24"/>
            <p:cNvGrpSpPr/>
            <p:nvPr/>
          </p:nvGrpSpPr>
          <p:grpSpPr>
            <a:xfrm>
              <a:off x="3333750" y="1714500"/>
              <a:ext cx="2476500" cy="3429000"/>
              <a:chOff x="0" y="0"/>
              <a:chExt cx="2476500" cy="3429000"/>
            </a:xfrm>
          </p:grpSpPr>
          <p:sp>
            <p:nvSpPr>
              <p:cNvPr id="324" name="Google Shape;324;p24"/>
              <p:cNvSpPr/>
              <p:nvPr/>
            </p:nvSpPr>
            <p:spPr>
              <a:xfrm>
                <a:off x="0" y="0"/>
                <a:ext cx="2476500" cy="3429000"/>
              </a:xfrm>
              <a:prstGeom prst="roundRect">
                <a:avLst>
                  <a:gd name="adj" fmla="val 7692"/>
                </a:avLst>
              </a:prstGeom>
              <a:solidFill>
                <a:srgbClr val="111827">
                  <a:alpha val="80000"/>
                </a:srgbClr>
              </a:solidFill>
              <a:ln w="9525" cap="flat" cmpd="sng">
                <a:solidFill>
                  <a:srgbClr val="3B82F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4"/>
              <p:cNvSpPr txBox="1"/>
              <p:nvPr/>
            </p:nvSpPr>
            <p:spPr>
              <a:xfrm>
                <a:off x="190500" y="273177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B82F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event_available</a:t>
                </a:r>
                <a:endParaRPr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26" name="Google Shape;326;p24"/>
              <p:cNvSpPr txBox="1"/>
              <p:nvPr/>
            </p:nvSpPr>
            <p:spPr>
              <a:xfrm>
                <a:off x="190500" y="714375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3B82F6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12-Month Plan</a:t>
                </a:r>
                <a:endParaRPr sz="1500" b="1">
                  <a:solidFill>
                    <a:srgbClr val="3B82F6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27" name="Google Shape;327;p24"/>
              <p:cNvSpPr txBox="1"/>
              <p:nvPr/>
            </p:nvSpPr>
            <p:spPr>
              <a:xfrm>
                <a:off x="190500" y="20002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Execute targeted capacity expansion and infrastructure investment directed at the </a:t>
                </a:r>
                <a:r>
                  <a:rPr lang="en-US" sz="1100" b="1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Top 5 Network Bottlenecks</a:t>
                </a: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28" name="Google Shape;328;p24"/>
            <p:cNvGrpSpPr/>
            <p:nvPr/>
          </p:nvGrpSpPr>
          <p:grpSpPr>
            <a:xfrm>
              <a:off x="6096000" y="1714500"/>
              <a:ext cx="2476500" cy="3429000"/>
              <a:chOff x="0" y="0"/>
              <a:chExt cx="2476500" cy="3429000"/>
            </a:xfrm>
          </p:grpSpPr>
          <p:sp>
            <p:nvSpPr>
              <p:cNvPr id="329" name="Google Shape;329;p24"/>
              <p:cNvSpPr/>
              <p:nvPr/>
            </p:nvSpPr>
            <p:spPr>
              <a:xfrm>
                <a:off x="0" y="0"/>
                <a:ext cx="2476500" cy="3429000"/>
              </a:xfrm>
              <a:prstGeom prst="roundRect">
                <a:avLst>
                  <a:gd name="adj" fmla="val 7692"/>
                </a:avLst>
              </a:prstGeom>
              <a:solidFill>
                <a:srgbClr val="111827">
                  <a:alpha val="80000"/>
                </a:srgbClr>
              </a:solidFill>
              <a:ln w="9525" cap="flat" cmpd="sng">
                <a:solidFill>
                  <a:srgbClr val="F59E0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4"/>
              <p:cNvSpPr txBox="1"/>
              <p:nvPr/>
            </p:nvSpPr>
            <p:spPr>
              <a:xfrm>
                <a:off x="190500" y="273177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F59E0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hub</a:t>
                </a:r>
                <a:endParaRPr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31" name="Google Shape;331;p24"/>
              <p:cNvSpPr txBox="1"/>
              <p:nvPr/>
            </p:nvSpPr>
            <p:spPr>
              <a:xfrm>
                <a:off x="190500" y="714375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F59E0B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GNN Integration</a:t>
                </a:r>
                <a:endParaRPr sz="1500" b="1">
                  <a:solidFill>
                    <a:srgbClr val="F59E0B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32" name="Google Shape;332;p24"/>
              <p:cNvSpPr txBox="1"/>
              <p:nvPr/>
            </p:nvSpPr>
            <p:spPr>
              <a:xfrm>
                <a:off x="190500" y="20002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Implement Graph Neural Networks </a:t>
                </a:r>
                <a:r>
                  <a:rPr lang="en-US" sz="1100" b="1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(GraphSAGE/GAT)</a:t>
                </a: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to enable advanced inductive learning for unseen nodes.</a:t>
                </a:r>
                <a:endParaRPr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3" name="Google Shape;333;p24"/>
            <p:cNvGrpSpPr/>
            <p:nvPr/>
          </p:nvGrpSpPr>
          <p:grpSpPr>
            <a:xfrm>
              <a:off x="8858250" y="1714500"/>
              <a:ext cx="2476500" cy="3429000"/>
              <a:chOff x="0" y="0"/>
              <a:chExt cx="2476500" cy="3429000"/>
            </a:xfrm>
          </p:grpSpPr>
          <p:sp>
            <p:nvSpPr>
              <p:cNvPr id="334" name="Google Shape;334;p24"/>
              <p:cNvSpPr/>
              <p:nvPr/>
            </p:nvSpPr>
            <p:spPr>
              <a:xfrm>
                <a:off x="0" y="0"/>
                <a:ext cx="2476500" cy="3429000"/>
              </a:xfrm>
              <a:prstGeom prst="roundRect">
                <a:avLst>
                  <a:gd name="adj" fmla="val 7692"/>
                </a:avLst>
              </a:prstGeom>
              <a:solidFill>
                <a:srgbClr val="111827">
                  <a:alpha val="80000"/>
                </a:srgbClr>
              </a:solidFill>
              <a:ln w="9525" cap="flat" cmpd="sng">
                <a:solidFill>
                  <a:srgbClr val="A855F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4"/>
              <p:cNvSpPr txBox="1"/>
              <p:nvPr/>
            </p:nvSpPr>
            <p:spPr>
              <a:xfrm>
                <a:off x="190500" y="273177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A855F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endParaRPr sz="2400">
                  <a:solidFill>
                    <a:srgbClr val="A855F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36" name="Google Shape;336;p24"/>
              <p:cNvSpPr txBox="1"/>
              <p:nvPr/>
            </p:nvSpPr>
            <p:spPr>
              <a:xfrm>
                <a:off x="190500" y="714375"/>
                <a:ext cx="2095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>
                    <a:solidFill>
                      <a:srgbClr val="A855F7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Live Intelligence</a:t>
                </a:r>
                <a:endParaRPr sz="1500" b="1">
                  <a:solidFill>
                    <a:srgbClr val="A855F7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337" name="Google Shape;337;p24"/>
              <p:cNvSpPr txBox="1"/>
              <p:nvPr/>
            </p:nvSpPr>
            <p:spPr>
              <a:xfrm>
                <a:off x="190500" y="2000250"/>
                <a:ext cx="20955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Enable </a:t>
                </a:r>
                <a:r>
                  <a:rPr lang="en-US" sz="1100" b="1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dynamic edge weight updates</a:t>
                </a:r>
                <a:r>
                  <a:rPr lang="en-US" sz="11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 across the graph based on live, streaming traffic data APIs.</a:t>
                </a:r>
                <a:endParaRPr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338" name="Google Shape;338;p24"/>
            <p:cNvSpPr/>
            <p:nvPr/>
          </p:nvSpPr>
          <p:spPr>
            <a:xfrm>
              <a:off x="1695450" y="3314700"/>
              <a:ext cx="228600" cy="228600"/>
            </a:xfrm>
            <a:prstGeom prst="ellipse">
              <a:avLst/>
            </a:prstGeom>
            <a:solidFill>
              <a:srgbClr val="10B981"/>
            </a:solidFill>
            <a:ln w="28575" cap="flat" cmpd="sng">
              <a:solidFill>
                <a:srgbClr val="07090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4457700" y="3314700"/>
              <a:ext cx="228600" cy="228600"/>
            </a:xfrm>
            <a:prstGeom prst="ellipse">
              <a:avLst/>
            </a:prstGeom>
            <a:solidFill>
              <a:srgbClr val="3B82F6"/>
            </a:solidFill>
            <a:ln w="28575" cap="flat" cmpd="sng">
              <a:solidFill>
                <a:srgbClr val="07090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7219950" y="3314700"/>
              <a:ext cx="228600" cy="228600"/>
            </a:xfrm>
            <a:prstGeom prst="ellipse">
              <a:avLst/>
            </a:prstGeom>
            <a:solidFill>
              <a:srgbClr val="F59E0B"/>
            </a:solidFill>
            <a:ln w="28575" cap="flat" cmpd="sng">
              <a:solidFill>
                <a:srgbClr val="07090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9982200" y="3314700"/>
              <a:ext cx="228600" cy="228600"/>
            </a:xfrm>
            <a:prstGeom prst="ellipse">
              <a:avLst/>
            </a:prstGeom>
            <a:solidFill>
              <a:srgbClr val="A855F7"/>
            </a:solidFill>
            <a:ln w="28575" cap="flat" cmpd="sng">
              <a:solidFill>
                <a:srgbClr val="07090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Material Icons</vt:lpstr>
      <vt:lpstr>Arial</vt:lpstr>
      <vt:lpstr>Inter Medium</vt:lpstr>
      <vt:lpstr>Space Grotesk Medium</vt:lpstr>
      <vt:lpstr>Calibri</vt:lpstr>
      <vt:lpstr>Space Grotesk SemiBold</vt:lpstr>
      <vt:lpstr>Inter</vt:lpstr>
      <vt:lpstr>Space Grotesk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BARUN GHOSH</dc:creator>
  <cp:lastModifiedBy>BARUN GHOSH</cp:lastModifiedBy>
  <cp:revision>1</cp:revision>
  <dcterms:modified xsi:type="dcterms:W3CDTF">2026-06-12T10:28:03Z</dcterms:modified>
</cp:coreProperties>
</file>