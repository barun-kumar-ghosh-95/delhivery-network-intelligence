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Optimizing Delivery ETAs with Graph-Based Network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Analytics Competition Submission</a:t>
            </a:r>
          </a:p>
          <a:p>
            <a:r>
              <a:t>Delhivery Network Optimization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D3748"/>
                </a:solidFill>
              </a:rPr>
              <a:t>1.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400"/>
              <a:t>Inaccurate ETA predictions cause SLA breaches and customer dissatisfaction.</a:t>
            </a:r>
          </a:p>
          <a:p>
            <a:pPr>
              <a:spcAft>
                <a:spcPts val="1400"/>
              </a:spcAft>
            </a:pPr>
            <a:r>
              <a:rPr sz="2400"/>
              <a:t>Baseline OSRM (Open Source Routing Machine) systematically underestimates actual travel time by nearly 2x.</a:t>
            </a:r>
          </a:p>
          <a:p>
            <a:pPr>
              <a:spcAft>
                <a:spcPts val="1400"/>
              </a:spcAft>
            </a:pPr>
            <a:r>
              <a:rPr sz="2400"/>
              <a:t>Facility processing delays and bottlenecks are ignored by traditional models.</a:t>
            </a:r>
          </a:p>
          <a:p>
            <a:pPr>
              <a:spcAft>
                <a:spcPts val="1400"/>
              </a:spcAft>
            </a:pPr>
            <a:r>
              <a:rPr sz="2400"/>
              <a:t>Goal: Build an intelligent, network-aware ETA prediction model.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D3748"/>
                </a:solidFill>
              </a:rPr>
              <a:t>2. The Dataset &amp;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400"/>
              <a:t>140,000+ logistics trips across the Delhivery network.</a:t>
            </a:r>
          </a:p>
          <a:p>
            <a:pPr>
              <a:spcAft>
                <a:spcPts val="1400"/>
              </a:spcAft>
            </a:pPr>
            <a:r>
              <a:rPr sz="2400"/>
              <a:t>Feature Engineering:</a:t>
            </a:r>
          </a:p>
          <a:p>
            <a:pPr>
              <a:spcAft>
                <a:spcPts val="1400"/>
              </a:spcAft>
            </a:pPr>
            <a:r>
              <a:rPr sz="2400"/>
              <a:t>  - Temporal (hour of day, day of week, rush hour flags)</a:t>
            </a:r>
          </a:p>
          <a:p>
            <a:pPr>
              <a:spcAft>
                <a:spcPts val="1400"/>
              </a:spcAft>
            </a:pPr>
            <a:r>
              <a:rPr sz="2400"/>
              <a:t>  - Spatial (haversine distance, city pairs)</a:t>
            </a:r>
          </a:p>
          <a:p>
            <a:pPr>
              <a:spcAft>
                <a:spcPts val="1400"/>
              </a:spcAft>
            </a:pPr>
            <a:r>
              <a:rPr sz="2400"/>
              <a:t>  - Aggregations (segment-level rollups for actual time)</a:t>
            </a:r>
          </a:p>
          <a:p>
            <a:pPr>
              <a:spcAft>
                <a:spcPts val="1400"/>
              </a:spcAft>
            </a:pPr>
            <a:r>
              <a:rPr sz="2400"/>
              <a:t>Data Quality: Addressed extreme outliers (500+ hour delays) using IQR thresholds.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D3748"/>
                </a:solidFill>
              </a:rPr>
              <a:t>3. Graph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400"/>
              <a:t>Modeled the entire logistics network as a Directed Graph using NetworkX.</a:t>
            </a:r>
          </a:p>
          <a:p>
            <a:pPr>
              <a:spcAft>
                <a:spcPts val="1400"/>
              </a:spcAft>
            </a:pPr>
            <a:r>
              <a:rPr sz="2400"/>
              <a:t>Nodes: 1,657 Facilities (Hubs &amp; Centers).</a:t>
            </a:r>
          </a:p>
          <a:p>
            <a:pPr>
              <a:spcAft>
                <a:spcPts val="1400"/>
              </a:spcAft>
            </a:pPr>
            <a:r>
              <a:rPr sz="2400"/>
              <a:t>Edges: 2,783 Corridors (Trip routes).</a:t>
            </a:r>
          </a:p>
          <a:p>
            <a:pPr>
              <a:spcAft>
                <a:spcPts val="1400"/>
              </a:spcAft>
            </a:pPr>
            <a:r>
              <a:rPr sz="2400"/>
              <a:t>Edge Weights: Average historical delay on the corridor.</a:t>
            </a:r>
          </a:p>
          <a:p>
            <a:pPr>
              <a:spcAft>
                <a:spcPts val="1400"/>
              </a:spcAft>
            </a:pPr>
            <a:r>
              <a:rPr sz="2400"/>
              <a:t>Extracted topological features for each facility: PageRank, Betweenness Centrality, Degree Centrality.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D3748"/>
                </a:solidFill>
              </a:rPr>
              <a:t>4. Why Graph Topology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400"/>
              <a:t>Node2Vec Embeddings: 32-dimensional vectors capturing the structural neighborhood of each facility.</a:t>
            </a:r>
          </a:p>
          <a:p>
            <a:pPr>
              <a:spcAft>
                <a:spcPts val="1400"/>
              </a:spcAft>
            </a:pPr>
            <a:r>
              <a:rPr sz="2400"/>
              <a:t>Community Detection (Louvain): Grouped facilities into 61 regional sub-networks.</a:t>
            </a:r>
          </a:p>
          <a:p>
            <a:pPr>
              <a:spcAft>
                <a:spcPts val="1400"/>
              </a:spcAft>
            </a:pPr>
            <a:r>
              <a:rPr sz="2400"/>
              <a:t>Impact: Tabular models treat facilities as isolated categorical variables. Graph features expose the 'ripple effect' of congestion.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D3748"/>
                </a:solidFill>
              </a:rPr>
              <a:t>5. Identifying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400"/>
              <a:t>Computed a composite 'Impact Score' combining:</a:t>
            </a:r>
          </a:p>
          <a:p>
            <a:pPr>
              <a:spcAft>
                <a:spcPts val="1400"/>
              </a:spcAft>
            </a:pPr>
            <a:r>
              <a:rPr sz="2400"/>
              <a:t>  - PageRank (Network Importance)</a:t>
            </a:r>
          </a:p>
          <a:p>
            <a:pPr>
              <a:spcAft>
                <a:spcPts val="1400"/>
              </a:spcAft>
            </a:pPr>
            <a:r>
              <a:rPr sz="2400"/>
              <a:t>  - Throughput (Volume)</a:t>
            </a:r>
          </a:p>
          <a:p>
            <a:pPr>
              <a:spcAft>
                <a:spcPts val="1400"/>
              </a:spcAft>
            </a:pPr>
            <a:r>
              <a:rPr sz="2400"/>
              <a:t>  - SLA Breach % (Historical Delay Probability)</a:t>
            </a:r>
          </a:p>
          <a:p>
            <a:pPr>
              <a:spcAft>
                <a:spcPts val="1400"/>
              </a:spcAft>
            </a:pPr>
            <a:r>
              <a:rPr sz="2400"/>
              <a:t>Result: Identified Top 5 critical nodes responsible for &gt;15% of all network delays.</a:t>
            </a:r>
          </a:p>
          <a:p>
            <a:pPr>
              <a:spcAft>
                <a:spcPts val="1400"/>
              </a:spcAft>
            </a:pPr>
            <a:r>
              <a:rPr sz="2400"/>
              <a:t>Actionable Insight: Focus capacity expansion at these exact nodes.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D3748"/>
                </a:solidFill>
              </a:rPr>
              <a:t>6. 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400"/>
              <a:t>Baseline XGBoost (Tabular Only): MAE 72.31 mins</a:t>
            </a:r>
          </a:p>
          <a:p>
            <a:pPr>
              <a:spcAft>
                <a:spcPts val="1400"/>
              </a:spcAft>
            </a:pPr>
            <a:r>
              <a:rPr sz="2400"/>
              <a:t>Node2Vec + XGBoost: MAE 64.00 mins</a:t>
            </a:r>
          </a:p>
          <a:p>
            <a:pPr>
              <a:spcAft>
                <a:spcPts val="1400"/>
              </a:spcAft>
            </a:pPr>
            <a:r>
              <a:rPr sz="2400"/>
              <a:t>Graph + LightGBM (Final): MAE 62.09 mins | R² 0.91</a:t>
            </a:r>
          </a:p>
          <a:p>
            <a:pPr>
              <a:spcAft>
                <a:spcPts val="1400"/>
              </a:spcAft>
            </a:pPr>
            <a:r>
              <a:rPr sz="2400"/>
              <a:t>Error Reduction: 14.1% improvement over tabular baseline.</a:t>
            </a:r>
          </a:p>
          <a:p>
            <a:pPr>
              <a:spcAft>
                <a:spcPts val="1400"/>
              </a:spcAft>
            </a:pPr>
            <a:r>
              <a:rPr sz="2400"/>
              <a:t>Accuracy @ 15% Error Margin: Reached 67.4%.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D3748"/>
                </a:solidFill>
              </a:rPr>
              <a:t>7. FTL vs Carting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400"/>
              <a:t>Different vehicle types exhibit different delay patterns.</a:t>
            </a:r>
          </a:p>
          <a:p>
            <a:pPr>
              <a:spcAft>
                <a:spcPts val="1400"/>
              </a:spcAft>
            </a:pPr>
            <a:r>
              <a:rPr sz="2400"/>
              <a:t>FTL (Full Truck Load) vs. Carting (Intracity vans).</a:t>
            </a:r>
          </a:p>
          <a:p>
            <a:pPr>
              <a:spcAft>
                <a:spcPts val="1400"/>
              </a:spcAft>
            </a:pPr>
            <a:r>
              <a:rPr sz="2400"/>
              <a:t>Built an interactive advisor to recommend the optimal vehicle type per corridor.</a:t>
            </a:r>
          </a:p>
          <a:p>
            <a:pPr>
              <a:spcAft>
                <a:spcPts val="1400"/>
              </a:spcAft>
            </a:pPr>
            <a:r>
              <a:rPr sz="2400"/>
              <a:t>Corridors with &gt;2.0x delay ratio are flagged for immediate vehicle re-allocation.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D3748"/>
                </a:solidFill>
              </a:rPr>
              <a:t>8.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400"/>
              <a:t>Developed 'Network Operations Command Center' Dashboard.</a:t>
            </a:r>
          </a:p>
          <a:p>
            <a:pPr>
              <a:spcAft>
                <a:spcPts val="1400"/>
              </a:spcAft>
            </a:pPr>
            <a:r>
              <a:rPr sz="2400"/>
              <a:t>Real-time monitoring of Corridors, Bottlenecks, and ETAs.</a:t>
            </a:r>
          </a:p>
          <a:p>
            <a:pPr>
              <a:spcAft>
                <a:spcPts val="1400"/>
              </a:spcAft>
            </a:pPr>
            <a:r>
              <a:rPr sz="2400"/>
              <a:t>Estimated Revenue at Risk tracking based on SLA breaches and throughput.</a:t>
            </a:r>
          </a:p>
          <a:p>
            <a:pPr>
              <a:spcAft>
                <a:spcPts val="1400"/>
              </a:spcAft>
            </a:pPr>
            <a:r>
              <a:rPr sz="2400"/>
              <a:t>Projected SLA improvement: 20-30%.</a:t>
            </a:r>
          </a:p>
          <a:p>
            <a:pPr>
              <a:spcAft>
                <a:spcPts val="1400"/>
              </a:spcAft>
            </a:pPr>
            <a:r>
              <a:rPr sz="2400"/>
              <a:t>Estimated Revenue Recovery: Rs. 2-5 Cr annually.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600" b="1">
                <a:solidFill>
                  <a:srgbClr val="2D3748"/>
                </a:solidFill>
              </a:rPr>
              <a:t>9. Recommendations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400"/>
              </a:spcAft>
            </a:pPr>
            <a:r>
              <a:rPr sz="2400"/>
              <a:t>90-Day Plan: Deploy ETA correction model on top 50 corridors.</a:t>
            </a:r>
          </a:p>
          <a:p>
            <a:pPr>
              <a:spcAft>
                <a:spcPts val="1400"/>
              </a:spcAft>
            </a:pPr>
            <a:r>
              <a:rPr sz="2400"/>
              <a:t>12-Month Plan: Capacity expansion at Top 5 Bottlenecks.</a:t>
            </a:r>
          </a:p>
          <a:p>
            <a:pPr>
              <a:spcAft>
                <a:spcPts val="1400"/>
              </a:spcAft>
            </a:pPr>
            <a:r>
              <a:rPr sz="2400"/>
              <a:t>Future Scope: Implement Graph Neural Networks (GraphSAGE/GAT) for inductive learning.</a:t>
            </a:r>
          </a:p>
          <a:p>
            <a:pPr>
              <a:spcAft>
                <a:spcPts val="1400"/>
              </a:spcAft>
            </a:pPr>
            <a:r>
              <a:rPr sz="2400"/>
              <a:t>Future Scope: Dynamic, real-time edge weight updates based on live traffic.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